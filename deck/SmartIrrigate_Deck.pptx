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team. Say up front: every result in this deck is simulated.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are from our simulation, not national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mbria"/>
              </a:rPr>
              <a:t>SmartIrrigate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1460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D9E8CC"/>
                </a:solidFill>
                <a:latin typeface="Calibri"/>
              </a:rPr>
              <a:t>Soil-moisture-driven irrigation scheduling for water savings: a simulation study on AquaCrop-OSPy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Team Codexa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Vedanshi Goyal  ·  Apoorva Singh  ·  Soumyadip Manna  ·  Pranay Maheshwari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006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9E8CC"/>
                </a:solidFill>
                <a:latin typeface="Calibri"/>
              </a:rPr>
              <a:t>EcoLogic 1.0 Sustainability Hackathon  |  Theme: Smart Agriculture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Code: https://github.com/vedanshigoyal/ecologic-hackathon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D9E8CC"/>
                </a:solidFill>
                <a:latin typeface="Calibri"/>
              </a:rPr>
              <a:t>SIMULATED with AquaCrop-OSPy (FAO AquaCrop model). Not field-measured.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C5F2D"/>
                </a:solidFill>
                <a:latin typeface="Cambria"/>
              </a:rPr>
              <a:t>Calendar irrigation wastes water and pump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85216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F2A1F"/>
                </a:solidFill>
                <a:latin typeface="Calibri"/>
              </a:rPr>
              <a:t>•  Many farms irrigate on a fixed calendar: a set depth every few days, whatever the soil or rain.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F2A1F"/>
                </a:solidFill>
                <a:latin typeface="Calibri"/>
              </a:rPr>
              <a:t>•  When rain has already wetted the root zone, the extra water drains past the roots or evaporates.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F2A1F"/>
                </a:solidFill>
                <a:latin typeface="Calibri"/>
              </a:rPr>
              <a:t>•  Every wasted litre was also pumped, so it wastes electricity and adds CO₂.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F2A1F"/>
                </a:solidFill>
                <a:latin typeface="Calibri"/>
              </a:rPr>
              <a:t>•  Goal: irrigate only when the crop needs it, without losing yield.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1463040"/>
            <a:ext cx="4663440" cy="1325880"/>
          </a:xfrm>
          <a:prstGeom prst="roundRect">
            <a:avLst>
              <a:gd name="adj" fmla="val 6000"/>
            </a:avLst>
          </a:prstGeom>
          <a:solidFill>
            <a:srgbClr val="EE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1572768"/>
            <a:ext cx="42976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C5F2D"/>
                </a:solidFill>
                <a:latin typeface="Cambria"/>
              </a:rPr>
              <a:t>725 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2240280"/>
            <a:ext cx="4297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6355"/>
                </a:solidFill>
                <a:latin typeface="Calibri"/>
              </a:rPr>
              <a:t>applied per season by a 25 mm / 7-day schedule (simulated)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3017520"/>
            <a:ext cx="4663440" cy="1325880"/>
          </a:xfrm>
          <a:prstGeom prst="roundRect">
            <a:avLst>
              <a:gd name="adj" fmla="val 6000"/>
            </a:avLst>
          </a:prstGeom>
          <a:solidFill>
            <a:srgbClr val="EE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3127248"/>
            <a:ext cx="42976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C5F2D"/>
                </a:solidFill>
                <a:latin typeface="Cambria"/>
              </a:rPr>
              <a:t>98.5%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794760"/>
            <a:ext cx="4297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6355"/>
                </a:solidFill>
                <a:latin typeface="Calibri"/>
              </a:rPr>
              <a:t>of that schedule's yield reached with no irrigation at all (simulated, sample climate)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526280"/>
            <a:ext cx="46634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6355"/>
                </a:solidFill>
                <a:latin typeface="Calibri"/>
              </a:rPr>
              <a:t>In our simulation, most of the calendar schedule's water does not turn into extra grain.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6355"/>
                </a:solidFill>
                <a:latin typeface="Calibri"/>
              </a:rPr>
              <a:t>SIMULATED with AquaCrop-OSPy (FAO AquaCrop model). Not field-measured.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C5F2D"/>
                </a:solidFill>
                <a:latin typeface="Cambria"/>
              </a:rPr>
              <a:t>One rule: water only when the root zone runs dry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5F2D"/>
                </a:solidFill>
                <a:latin typeface="Calibri"/>
              </a:rPr>
              <a:t>Simulation pipeline (built, runs in this repository)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EE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1F"/>
                </a:solidFill>
                <a:latin typeface="Calibri"/>
              </a:rPr>
              <a:t>Weather, soil, crop inputs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68879" y="2084832"/>
            <a:ext cx="301752" cy="219456"/>
          </a:xfrm>
          <a:prstGeom prst="rightArrow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16351" y="173736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EE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1F"/>
                </a:solidFill>
                <a:latin typeface="Calibri"/>
              </a:rPr>
              <a:t>AquaCrop-OSPy, 8 strategies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36590" y="2084832"/>
            <a:ext cx="301752" cy="219456"/>
          </a:xfrm>
          <a:prstGeom prst="rightArrow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4062" y="173736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EE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1F"/>
                </a:solidFill>
                <a:latin typeface="Calibri"/>
              </a:rPr>
              <a:t>Pre-registered selection rule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04301" y="2084832"/>
            <a:ext cx="301752" cy="219456"/>
          </a:xfrm>
          <a:prstGeom prst="rightArrow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51773" y="173736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EE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1F"/>
                </a:solidFill>
                <a:latin typeface="Calibri"/>
              </a:rPr>
              <a:t>impact.json: L, kWh, ₹, CO₂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72012" y="2084832"/>
            <a:ext cx="301752" cy="219456"/>
          </a:xfrm>
          <a:prstGeom prst="rightArrow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19484" y="173736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EE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1F"/>
                </a:solidFill>
                <a:latin typeface="Calibri"/>
              </a:rPr>
              <a:t>Charts, README,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5F2D"/>
                </a:solidFill>
                <a:latin typeface="Calibri"/>
              </a:rPr>
              <a:t>Field deployment concept (not built or tested in this submission)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8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D9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1F"/>
                </a:solidFill>
                <a:latin typeface="Calibri"/>
              </a:rPr>
              <a:t>Capacitive soil-moisture probes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68879" y="3959352"/>
            <a:ext cx="301752" cy="219456"/>
          </a:xfrm>
          <a:prstGeom prst="rightArrow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16351" y="361188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D9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1F"/>
                </a:solidFill>
                <a:latin typeface="Calibri"/>
              </a:rPr>
              <a:t>Microcontroller runs the same rule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736590" y="3959352"/>
            <a:ext cx="301752" cy="219456"/>
          </a:xfrm>
          <a:prstGeom prst="rightArrow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84062" y="361188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D9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1F"/>
                </a:solidFill>
                <a:latin typeface="Calibri"/>
              </a:rPr>
              <a:t>Relay on pump or valve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04301" y="3959352"/>
            <a:ext cx="301752" cy="219456"/>
          </a:xfrm>
          <a:prstGeom prst="rightArrow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51773" y="361188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D9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1F"/>
                </a:solidFill>
                <a:latin typeface="Calibri"/>
              </a:rPr>
              <a:t>Water applied only when needed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272012" y="3959352"/>
            <a:ext cx="301752" cy="219456"/>
          </a:xfrm>
          <a:prstGeom prst="rightArrow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19484" y="361188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D9E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F2A1F"/>
                </a:solidFill>
                <a:latin typeface="Calibri"/>
              </a:rPr>
              <a:t>Dashboard and 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10972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1F"/>
                </a:solidFill>
                <a:latin typeface="Calibri"/>
              </a:rPr>
              <a:t>•  Rule: when root-zone water falls below the threshold (selected: smt_40, i.e. 40% of available water), refill it; otherwise do nothing.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1F"/>
                </a:solidFill>
                <a:latin typeface="Calibri"/>
              </a:rPr>
              <a:t>•  The controller logic is a few lines and runs offline; per-farm work is sensor calibration.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6355"/>
                </a:solidFill>
                <a:latin typeface="Calibri"/>
              </a:rPr>
              <a:t>SIMULATED with AquaCrop-OSPy (FAO AquaCrop model). Not field-measured.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C5F2D"/>
                </a:solidFill>
                <a:latin typeface="Cambria"/>
              </a:rPr>
              <a:t>Method: same seasons and weather, new rule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EE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C5F2D"/>
                </a:solidFill>
                <a:latin typeface="Cambria"/>
              </a:rPr>
              <a:t>Baseline: fixed_7d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49377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1F"/>
                </a:solidFill>
                <a:latin typeface="Calibri"/>
              </a:rPr>
              <a:t>•  25 mm every 7 days from planting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1F"/>
                </a:solidFill>
                <a:latin typeface="Calibri"/>
              </a:rPr>
              <a:t>•  Predefined schedule (AquaCrop method 3)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1F"/>
                </a:solidFill>
                <a:latin typeface="Calibri"/>
              </a:rPr>
              <a:t>•  Stylised farmer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EE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0876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C5F2D"/>
                </a:solidFill>
                <a:latin typeface="Cambria"/>
              </a:rPr>
              <a:t>Scheduler: smt_40 … smt_90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9377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1F"/>
                </a:solidFill>
                <a:latin typeface="Calibri"/>
              </a:rPr>
              <a:t>•  Irrigate when root-zone water &lt; 40 … 90% of available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1F"/>
                </a:solidFill>
                <a:latin typeface="Calibri"/>
              </a:rPr>
              <a:t>•  Soil-moisture targets (AquaCrop method 1)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1F"/>
                </a:solidFill>
                <a:latin typeface="Calibri"/>
              </a:rPr>
              <a:t>•  6 thresholds tested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5F2D"/>
                </a:solidFill>
                <a:latin typeface="Calibri"/>
              </a:rPr>
              <a:t>Selection rule, fixed before any results were seen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1F"/>
                </a:solidFill>
                <a:latin typeface="Calibri"/>
              </a:rPr>
              <a:t>Choose the SMT strategy with the lowest mean seasonal irrigation (mm) among those whose mean dry yield is at least 98% of the fixed_7d mean yield. If none qualify, report that plainly and show the best yield-preserving trade-off without claiming it meets the rule.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56355"/>
                </a:solidFill>
                <a:latin typeface="Calibri"/>
              </a:rPr>
              <a:t>Model: FAO AquaCrop via AquaCrop-OSPy. Crop Wheat, soil SandyLoam, planting 1 October.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56355"/>
                </a:solidFill>
                <a:latin typeface="Calibri"/>
              </a:rPr>
              <a:t>Weather: Tunis, Tunisia (AquaCrop-OSPy bundled sample climate); 23 seasons, 1979-80 to 2001-02. Not an Indian site.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6355"/>
                </a:solidFill>
                <a:latin typeface="Calibri"/>
              </a:rPr>
              <a:t>SIMULATED with AquaCrop-OSPy (FAO AquaCrop model). Not field-measured.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C5F2D"/>
                </a:solidFill>
                <a:latin typeface="Cambria"/>
              </a:rPr>
              <a:t>Result: smt_40 keeps yield with far less water</a:t>
            </a:r>
          </a:p>
        </p:txBody>
      </p:sp>
      <p:pic>
        <p:nvPicPr>
          <p:cNvPr id="3" name="Picture 2" descr="irrigation_vs_y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766560" cy="405993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35240" y="1280160"/>
            <a:ext cx="4023360" cy="1325880"/>
          </a:xfrm>
          <a:prstGeom prst="roundRect">
            <a:avLst>
              <a:gd name="adj" fmla="val 6000"/>
            </a:avLst>
          </a:prstGeom>
          <a:solidFill>
            <a:srgbClr val="EE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389888"/>
            <a:ext cx="36576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C5F2D"/>
                </a:solidFill>
                <a:latin typeface="Cambria"/>
              </a:rPr>
              <a:t>725 → 26.1 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2057400"/>
            <a:ext cx="36576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6355"/>
                </a:solidFill>
                <a:latin typeface="Calibri"/>
              </a:rPr>
              <a:t>mean irrigation per season, baseline → scheduler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743200"/>
            <a:ext cx="4023360" cy="1325880"/>
          </a:xfrm>
          <a:prstGeom prst="roundRect">
            <a:avLst>
              <a:gd name="adj" fmla="val 6000"/>
            </a:avLst>
          </a:prstGeom>
          <a:solidFill>
            <a:srgbClr val="EE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2852928"/>
            <a:ext cx="36576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C5F2D"/>
                </a:solidFill>
                <a:latin typeface="Cambria"/>
              </a:rPr>
              <a:t>9.37 → 9.36 t/ha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520440"/>
            <a:ext cx="36576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6355"/>
                </a:solidFill>
                <a:latin typeface="Calibri"/>
              </a:rPr>
              <a:t>mean dry yield (-0.03%)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206240"/>
            <a:ext cx="4023360" cy="1325880"/>
          </a:xfrm>
          <a:prstGeom prst="roundRect">
            <a:avLst>
              <a:gd name="adj" fmla="val 6000"/>
            </a:avLst>
          </a:prstGeom>
          <a:solidFill>
            <a:srgbClr val="EE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4315968"/>
            <a:ext cx="36576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C5F2D"/>
                </a:solidFill>
                <a:latin typeface="Cambria"/>
              </a:rPr>
              <a:t>1.29 → 35.9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983480"/>
            <a:ext cx="36576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6355"/>
                </a:solidFill>
                <a:latin typeface="Calibri"/>
              </a:rPr>
              <a:t>kg grain per m³ irrigation water (inflated: rain does most of the work)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6355"/>
                </a:solidFill>
                <a:latin typeface="Calibri"/>
              </a:rPr>
              <a:t>Selection rule met: Yes. Less water in 23 of 23 seasons; yield within 2% in 23 of 23 seasons. Rainfed alone reaches 98.5% of baseline yield here, so the baseline over-irrigates.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6355"/>
                </a:solidFill>
                <a:latin typeface="Calibri"/>
              </a:rPr>
              <a:t>SIMULATED with AquaCrop-OSPy (FAO AquaCrop model). Not field-measured.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C5F2D"/>
                </a:solidFill>
                <a:latin typeface="Cambria"/>
              </a:rPr>
              <a:t>Impact per hectare per season (simulated)</a:t>
            </a:r>
          </a:p>
        </p:txBody>
      </p:sp>
      <p:pic>
        <p:nvPicPr>
          <p:cNvPr id="3" name="Picture 2" descr="impact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11094415" cy="255171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977639"/>
          <a:ext cx="73152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4343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Pump head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kWh/m³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kWh saved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₹ saved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kg CO₂ saved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1F"/>
                          </a:solidFill>
                          <a:latin typeface="Calibri"/>
                        </a:rPr>
                        <a:t>15 m</a:t>
                      </a:r>
                    </a:p>
                  </a:txBody>
                  <a:tcPr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1F"/>
                          </a:solidFill>
                          <a:latin typeface="Calibri"/>
                        </a:rPr>
                        <a:t>0.091</a:t>
                      </a:r>
                    </a:p>
                  </a:txBody>
                  <a:tcPr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1F"/>
                          </a:solidFill>
                          <a:latin typeface="Calibri"/>
                        </a:rPr>
                        <a:t>635</a:t>
                      </a:r>
                    </a:p>
                  </a:txBody>
                  <a:tcPr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1F"/>
                          </a:solidFill>
                          <a:latin typeface="Calibri"/>
                        </a:rPr>
                        <a:t>₹3,809</a:t>
                      </a:r>
                    </a:p>
                  </a:txBody>
                  <a:tcPr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1F"/>
                          </a:solidFill>
                          <a:latin typeface="Calibri"/>
                        </a:rPr>
                        <a:t>451</a:t>
                      </a:r>
                    </a:p>
                  </a:txBody>
                  <a:tcPr>
                    <a:solidFill>
                      <a:srgbClr val="EEF4E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1F"/>
                          </a:solidFill>
                          <a:latin typeface="Calibri"/>
                        </a:rPr>
                        <a:t>30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1F"/>
                          </a:solidFill>
                          <a:latin typeface="Calibri"/>
                        </a:rPr>
                        <a:t>0.182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1F"/>
                          </a:solidFill>
                          <a:latin typeface="Calibri"/>
                        </a:rPr>
                        <a:t>1,270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1F"/>
                          </a:solidFill>
                          <a:latin typeface="Calibri"/>
                        </a:rPr>
                        <a:t>₹7,618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1F"/>
                          </a:solidFill>
                          <a:latin typeface="Calibri"/>
                        </a:rPr>
                        <a:t>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1F"/>
                          </a:solidFill>
                          <a:latin typeface="Calibri"/>
                        </a:rPr>
                        <a:t>60 m</a:t>
                      </a:r>
                    </a:p>
                  </a:txBody>
                  <a:tcPr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1F"/>
                          </a:solidFill>
                          <a:latin typeface="Calibri"/>
                        </a:rPr>
                        <a:t>0.363</a:t>
                      </a:r>
                    </a:p>
                  </a:txBody>
                  <a:tcPr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1F"/>
                          </a:solidFill>
                          <a:latin typeface="Calibri"/>
                        </a:rPr>
                        <a:t>2,539</a:t>
                      </a:r>
                    </a:p>
                  </a:txBody>
                  <a:tcPr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1F"/>
                          </a:solidFill>
                          <a:latin typeface="Calibri"/>
                        </a:rPr>
                        <a:t>₹15,236</a:t>
                      </a:r>
                    </a:p>
                  </a:txBody>
                  <a:tcPr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A1F"/>
                          </a:solidFill>
                          <a:latin typeface="Calibri"/>
                        </a:rPr>
                        <a:t>1,803</a:t>
                      </a:r>
                    </a:p>
                  </a:txBody>
                  <a:tcPr>
                    <a:solidFill>
                      <a:srgbClr val="EEF4E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3977639"/>
            <a:ext cx="3429000" cy="2286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6355"/>
                </a:solidFill>
                <a:latin typeface="Calibri"/>
              </a:rPr>
              <a:t>Sensitivity: savings scale with pump head, so we show 15, 30 and 60 m.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6355"/>
                </a:solidFill>
                <a:latin typeface="Calibri"/>
              </a:rPr>
              <a:t>Base case: head 30 m, efficiency 0.45, tariff ₹6.00/kWh, grid 0.71 kg CO₂/kWh.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6355"/>
                </a:solidFill>
                <a:latin typeface="Calibri"/>
              </a:rPr>
              <a:t>All four are assumptions to verify (docs/ASSUMPTIONS.md).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6355"/>
                </a:solidFill>
                <a:latin typeface="Calibri"/>
              </a:rPr>
              <a:t>SIMULATED with AquaCrop-OSPy (FAO AquaCrop model). Not field-measured.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Path to the field, and what this does not show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5440680" cy="2240280"/>
          </a:xfrm>
          <a:prstGeom prst="roundRect">
            <a:avLst>
              <a:gd name="adj" fmla="val 6000"/>
            </a:avLst>
          </a:prstGeom>
          <a:solidFill>
            <a:srgbClr val="3B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50292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Rule runs on low-cost hardware, offline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One controller can serve several valves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Re-run per region with local weather and soil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440680" cy="2240280"/>
          </a:xfrm>
          <a:prstGeom prst="roundRect">
            <a:avLst>
              <a:gd name="adj" fmla="val 6000"/>
            </a:avLst>
          </a:prstGeom>
          <a:solidFill>
            <a:srgbClr val="3B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Commercial viability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Saving = water + pump electricity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Fits pump-solarisation and drip programmes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No payback model yet: capex and tariffs unverified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5440680" cy="2240280"/>
          </a:xfrm>
          <a:prstGeom prst="roundRect">
            <a:avLst>
              <a:gd name="adj" fmla="val 6000"/>
            </a:avLst>
          </a:prstGeom>
          <a:solidFill>
            <a:srgbClr val="3B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Deployment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50292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Capacitive probes, ESP32-class controller, relay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Calibrate probes to local soil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Pilot: one field, control vs treatment plot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94760"/>
            <a:ext cx="5440680" cy="2240280"/>
          </a:xfrm>
          <a:prstGeom prst="roundRect">
            <a:avLst>
              <a:gd name="adj" fmla="val 6000"/>
            </a:avLst>
          </a:prstGeom>
          <a:solidFill>
            <a:srgbClr val="3B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480560"/>
            <a:ext cx="50292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Simulated only; sample climate (Tunis), not local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Single crop and soil; baseline over-irrigates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Threshold scheduling is a modest, known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D9E8CC"/>
                </a:solidFill>
                <a:latin typeface="Calibri"/>
              </a:rPr>
              <a:t>SIMULATED with AquaCrop-OSPy (FAO AquaCrop model). Not field-measured.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